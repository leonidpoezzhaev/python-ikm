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72" r:id="rId5"/>
    <p:sldId id="273" r:id="rId6"/>
    <p:sldId id="274" r:id="rId7"/>
    <p:sldId id="275" r:id="rId8"/>
    <p:sldId id="277" r:id="rId9"/>
    <p:sldId id="279" r:id="rId10"/>
    <p:sldId id="278" r:id="rId11"/>
    <p:sldId id="27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20.06.2026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20.06.2026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20.06.2026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ИНДИВИДУАЛЬНОЕ ЗАДАНИЕ «ДИНАМИЧЕСКИЕ СТРУКТУРЫ ДАННЫХ»</a:t>
            </a:r>
            <a:br>
              <a:rPr lang="ru-RU" sz="4000" dirty="0"/>
            </a:br>
            <a:r>
              <a:rPr lang="ru-RU" sz="4000" dirty="0"/>
              <a:t>Задача №8.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Поезжаев Леонид Александрович, ИТ-8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1664D-D7FA-682B-9717-BD28802F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37403D6-C7B0-5F5F-9F00-B115A1E5023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Многочлен 𝑃(𝑥)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𝑎</m:t>
                        </m:r>
                      </m:e>
                      <m:sub>
                        <m:r>
                          <a:rPr lang="ru-RU" i="1"/>
                          <m:t>𝑛</m:t>
                        </m:r>
                      </m:sub>
                    </m:sSub>
                    <m:sSup>
                      <m:sSupPr>
                        <m:ctrlPr>
                          <a:rPr lang="ru-RU" i="1"/>
                        </m:ctrlPr>
                      </m:sSupPr>
                      <m:e>
                        <m:r>
                          <a:rPr lang="ru-RU" i="1"/>
                          <m:t>𝑥</m:t>
                        </m:r>
                      </m:e>
                      <m:sup>
                        <m:r>
                          <a:rPr lang="ru-RU" i="1"/>
                          <m:t>𝑛</m:t>
                        </m:r>
                      </m:sup>
                    </m:sSup>
                    <m:r>
                      <a:rPr lang="ru-RU" i="1"/>
                      <m:t>+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𝑎</m:t>
                        </m:r>
                      </m:e>
                      <m:sub>
                        <m:r>
                          <a:rPr lang="ru-RU" i="1"/>
                          <m:t>𝑛</m:t>
                        </m:r>
                        <m:r>
                          <a:rPr lang="ru-RU" i="1"/>
                          <m:t>−1</m:t>
                        </m:r>
                      </m:sub>
                    </m:sSub>
                    <m:sSup>
                      <m:sSupPr>
                        <m:ctrlPr>
                          <a:rPr lang="ru-RU" i="1"/>
                        </m:ctrlPr>
                      </m:sSupPr>
                      <m:e>
                        <m:r>
                          <a:rPr lang="ru-RU" i="1"/>
                          <m:t>𝑥</m:t>
                        </m:r>
                      </m:e>
                      <m:sup>
                        <m:r>
                          <a:rPr lang="ru-RU" i="1"/>
                          <m:t>𝑛</m:t>
                        </m:r>
                        <m:r>
                          <a:rPr lang="ru-RU" i="1"/>
                          <m:t>−1</m:t>
                        </m:r>
                      </m:sup>
                    </m:sSup>
                    <m:r>
                      <a:rPr lang="ru-RU" i="1"/>
                      <m:t>+…+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𝑎</m:t>
                        </m:r>
                      </m:e>
                      <m:sub>
                        <m:r>
                          <a:rPr lang="ru-RU" i="1"/>
                          <m:t>1</m:t>
                        </m:r>
                      </m:sub>
                    </m:sSub>
                    <m:r>
                      <a:rPr lang="ru-RU" i="1"/>
                      <m:t>𝑥</m:t>
                    </m:r>
                    <m:r>
                      <a:rPr lang="ru-RU" i="1"/>
                      <m:t>+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𝑎</m:t>
                        </m:r>
                      </m:e>
                      <m:sub>
                        <m:r>
                          <a:rPr lang="ru-RU" i="1"/>
                          <m:t>0</m:t>
                        </m:r>
                      </m:sub>
                    </m:sSub>
                    <m:r>
                      <a:rPr lang="ru-RU" i="1" smtClean="0"/>
                      <m:t> </m:t>
                    </m:r>
                  </m:oMath>
                </a14:m>
                <a:r>
                  <a:rPr lang="ru-RU" dirty="0"/>
                  <a:t>с целыми коэффициентами можно представить в виде списка, в котором первое информационное поле соответствует коэффициенту при неизвестном, а второе показателю степени этого же неизвестного. Написать процедуры для ввода и вывода многочлена из строкового формата в список. В качестве строкового формата может использоваться запись типа: </a:t>
                </a:r>
                <a:br>
                  <a:rPr lang="ru-RU" dirty="0"/>
                </a:br>
                <a:r>
                  <a:rPr lang="ru-RU" dirty="0"/>
                  <a:t>52y^10 – 3y^8 + y, где знак ^ означает возведение в степень. Реализовать процедуру для приведения подобных слагаемых в многочлене. С помощью описанных процедур ввести многочлен из файла, привести подобные члены и вывести результирующий многочлен в конец исходного файла, расположив его члены в порядке убывания степеней. Использовать однонаправленный линейный список.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37403D6-C7B0-5F5F-9F00-B115A1E50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043" t="-3138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04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57CF5-69B6-743C-B49F-13873D15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A98E1B-2CC2-A922-6B95-0CFD37DD9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b="1" dirty="0" err="1"/>
              <a:t>Кодстайл</a:t>
            </a:r>
            <a:r>
              <a:rPr lang="ru-RU" b="1" dirty="0"/>
              <a:t>:</a:t>
            </a:r>
          </a:p>
          <a:p>
            <a:pPr marL="457200" lvl="1" indent="0">
              <a:buNone/>
            </a:pPr>
            <a:r>
              <a:rPr lang="ru-RU" dirty="0"/>
              <a:t>◦ Соблюдение стандарта, принятого в учебной группе (PEP 8)</a:t>
            </a:r>
          </a:p>
          <a:p>
            <a:pPr marL="457200" lvl="1" indent="0">
              <a:buNone/>
            </a:pPr>
            <a:r>
              <a:rPr lang="ru-RU" dirty="0"/>
              <a:t>◦ Четкое разделение кода на функции (одна функция — одна логическая задача).</a:t>
            </a:r>
          </a:p>
          <a:p>
            <a:pPr marL="457200" lvl="1" indent="0">
              <a:buNone/>
            </a:pPr>
            <a:r>
              <a:rPr lang="ru-RU" dirty="0"/>
              <a:t>◦ Обработка ошибок (проверка открытия файлов, корректности ввода пользователя и т.д.).</a:t>
            </a:r>
          </a:p>
          <a:p>
            <a:pPr marL="457200" lvl="1" indent="0">
              <a:buNone/>
            </a:pPr>
            <a:r>
              <a:rPr lang="ru-RU" dirty="0"/>
              <a:t>◦ Комментарии только (!) к неочевидным алгоритмам и объявлениям структур.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b="1" dirty="0"/>
              <a:t>Архитектура программы:</a:t>
            </a:r>
          </a:p>
          <a:p>
            <a:pPr marL="457200" lvl="1" indent="0">
              <a:buNone/>
            </a:pPr>
            <a:r>
              <a:rPr lang="ru-RU" dirty="0"/>
              <a:t>◦ Разделение на логические модули (например, main.py, logic.py).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b="1" dirty="0"/>
              <a:t>Пользовательский интерфейс:</a:t>
            </a:r>
          </a:p>
          <a:p>
            <a:pPr marL="457200" lvl="1" indent="0">
              <a:buNone/>
            </a:pPr>
            <a:r>
              <a:rPr lang="ru-RU" dirty="0"/>
              <a:t>◦ В программе обязательно наличие дружественного интерфейса и защиты от некорректного пользовательского ввода.</a:t>
            </a:r>
          </a:p>
          <a:p>
            <a:pPr marL="457200" lvl="1" indent="0">
              <a:buNone/>
            </a:pPr>
            <a:r>
              <a:rPr lang="ru-RU" dirty="0"/>
              <a:t>◦ В консоли должно быть циклическое текстовое меню с нумерованными пунктами.</a:t>
            </a:r>
          </a:p>
          <a:p>
            <a:pPr marL="457200" lvl="1" indent="0">
              <a:buNone/>
            </a:pPr>
            <a:r>
              <a:rPr lang="ru-RU" dirty="0"/>
              <a:t>◦ Меню должно быть с понятными пояснениями.</a:t>
            </a:r>
          </a:p>
          <a:p>
            <a:pPr marL="457200" lvl="1" indent="0">
              <a:buNone/>
            </a:pPr>
            <a:r>
              <a:rPr lang="ru-RU" dirty="0"/>
              <a:t>◦ Программа должна запрашивать ввод у пользователя и корректно реагировать на неверные данные.</a:t>
            </a:r>
          </a:p>
          <a:p>
            <a:pPr marL="457200" lvl="1" indent="0">
              <a:buNone/>
            </a:pPr>
            <a:r>
              <a:rPr lang="ru-RU" dirty="0"/>
              <a:t>◦ После выполнения операции (кроме выхода) следует возвращать пользователя в меню или подменю.</a:t>
            </a:r>
          </a:p>
        </p:txBody>
      </p:sp>
    </p:spTree>
    <p:extLst>
      <p:ext uri="{BB962C8B-B14F-4D97-AF65-F5344CB8AC3E}">
        <p14:creationId xmlns:p14="http://schemas.microsoft.com/office/powerpoint/2010/main" val="42751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9A95C-589A-F9F1-F293-D2E3906A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B41E73-66C2-42D2-E209-0454FC331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8" y="1909102"/>
            <a:ext cx="11780623" cy="3394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8B8B4-92C7-520A-A698-70BD809FBF55}"/>
              </a:ext>
            </a:extLst>
          </p:cNvPr>
          <p:cNvSpPr txBox="1"/>
          <p:nvPr/>
        </p:nvSpPr>
        <p:spPr>
          <a:xfrm>
            <a:off x="3825240" y="5532120"/>
            <a:ext cx="470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Односвязный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199711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85719-B049-12E7-1973-FB9C9229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139B034-8E6B-3BBF-D78D-3F8AC48D6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1AA763A-9B69-9550-A29B-C485469DFB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280" y="0"/>
            <a:ext cx="6819900" cy="681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661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6580B31-7E19-DA2F-D1B2-4F793092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ABDE37-7C9E-304A-DA2A-2E1785AA7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3" y="2529592"/>
            <a:ext cx="5382577" cy="258273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92771B-1AD6-F519-9B34-93A3BF670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977" y="2641282"/>
            <a:ext cx="6085480" cy="2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0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61CD-B7A0-D848-705F-531844B6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9F10847-6C77-8B28-3422-1C288093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99DCB2-B205-AEFC-1E55-7C896A110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1821180"/>
            <a:ext cx="7600950" cy="1905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C0D166-9DE0-6043-235D-2C24C7FF5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002" y="4130040"/>
            <a:ext cx="6055995" cy="217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8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C0FD-C430-1F85-89D0-59124D2D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573D90A-5886-A716-0FB8-B8BDD1DF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C64FDB-FE18-8AE1-DA77-E7ADD74DE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57" y="2002155"/>
            <a:ext cx="4431983" cy="13312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341702-6A83-7125-2242-D2B11DC8E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445" y="2722246"/>
            <a:ext cx="5657435" cy="20097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EA151E-1B1E-81AC-0784-50BA38326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57" y="4059554"/>
            <a:ext cx="4443984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4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5830-4E05-E63A-5A38-399689FF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9C170-8E6C-CA90-18A8-A75B9356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4" y="540173"/>
            <a:ext cx="3650668" cy="2051579"/>
          </a:xfrm>
        </p:spPr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B1BECCA-E5CA-474C-3C2C-417E24AB2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199" y="107951"/>
            <a:ext cx="6642097" cy="664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42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D4245-F947-1215-790A-81209320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61DABD-C178-F540-D9D0-C171810CD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585" y="2065020"/>
            <a:ext cx="6021470" cy="39500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412F93-FF33-3B24-8C66-58793EE6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45" y="1874520"/>
            <a:ext cx="5113503" cy="414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6A94859-7719-B5A6-62F5-6397AD4CB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2B31B02B-53C6-D38E-B0B7-219B30B5B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Вопросы?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5738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316</Words>
  <Application>Microsoft Office PowerPoint</Application>
  <PresentationFormat>Широкоэкранный</PresentationFormat>
  <Paragraphs>28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PermianSansTypeface</vt:lpstr>
      <vt:lpstr>PermianSerifTypeface</vt:lpstr>
      <vt:lpstr>Тема Office</vt:lpstr>
      <vt:lpstr>ИНДИВИДУАЛЬНОЕ ЗАДАНИЕ «ДИНАМИЧЕСКИЕ СТРУКТУРЫ ДАННЫХ» Задача №8.</vt:lpstr>
      <vt:lpstr>Постановка задачи</vt:lpstr>
      <vt:lpstr>Требования</vt:lpstr>
      <vt:lpstr>Алгоритмы и структуры данных</vt:lpstr>
      <vt:lpstr>Алгоритмы и структуры данных</vt:lpstr>
      <vt:lpstr>Демонстрация работы</vt:lpstr>
      <vt:lpstr>Демонстрация работы</vt:lpstr>
      <vt:lpstr>Демонстрация работы</vt:lpstr>
      <vt:lpstr>Тестирование и результаты</vt:lpstr>
      <vt:lpstr>Тестирование и результаты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Leonid Poezzhaev</cp:lastModifiedBy>
  <cp:revision>36</cp:revision>
  <dcterms:created xsi:type="dcterms:W3CDTF">2020-05-17T17:29:28Z</dcterms:created>
  <dcterms:modified xsi:type="dcterms:W3CDTF">2026-06-20T01:24:13Z</dcterms:modified>
</cp:coreProperties>
</file>